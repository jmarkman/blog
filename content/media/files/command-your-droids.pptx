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49" r:id="rId5"/>
    <p:sldId id="322" r:id="rId6"/>
    <p:sldId id="314" r:id="rId7"/>
    <p:sldId id="320" r:id="rId8"/>
    <p:sldId id="319" r:id="rId9"/>
    <p:sldId id="332" r:id="rId10"/>
    <p:sldId id="348" r:id="rId11"/>
    <p:sldId id="323" r:id="rId12"/>
    <p:sldId id="347" r:id="rId13"/>
    <p:sldId id="318" r:id="rId14"/>
    <p:sldId id="329" r:id="rId15"/>
    <p:sldId id="316" r:id="rId16"/>
    <p:sldId id="328" r:id="rId17"/>
    <p:sldId id="344" r:id="rId18"/>
    <p:sldId id="317" r:id="rId19"/>
    <p:sldId id="315" r:id="rId20"/>
    <p:sldId id="312" r:id="rId21"/>
    <p:sldId id="330" r:id="rId22"/>
    <p:sldId id="338" r:id="rId23"/>
    <p:sldId id="340" r:id="rId24"/>
    <p:sldId id="341" r:id="rId25"/>
    <p:sldId id="342" r:id="rId26"/>
    <p:sldId id="346" r:id="rId27"/>
    <p:sldId id="350" r:id="rId28"/>
    <p:sldId id="3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143B3F-BBCB-4185-92E9-5774767E027F}">
          <p14:sldIdLst>
            <p14:sldId id="349"/>
            <p14:sldId id="322"/>
            <p14:sldId id="314"/>
            <p14:sldId id="320"/>
            <p14:sldId id="319"/>
            <p14:sldId id="332"/>
            <p14:sldId id="348"/>
            <p14:sldId id="323"/>
            <p14:sldId id="347"/>
            <p14:sldId id="318"/>
            <p14:sldId id="329"/>
            <p14:sldId id="316"/>
            <p14:sldId id="328"/>
            <p14:sldId id="344"/>
            <p14:sldId id="317"/>
            <p14:sldId id="315"/>
            <p14:sldId id="312"/>
            <p14:sldId id="330"/>
            <p14:sldId id="338"/>
            <p14:sldId id="340"/>
            <p14:sldId id="341"/>
            <p14:sldId id="342"/>
            <p14:sldId id="346"/>
            <p14:sldId id="350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80678" autoAdjust="0"/>
  </p:normalViewPr>
  <p:slideViewPr>
    <p:cSldViewPr snapToGrid="0">
      <p:cViewPr varScale="1">
        <p:scale>
          <a:sx n="71" d="100"/>
          <a:sy n="71" d="100"/>
        </p:scale>
        <p:origin x="77" y="18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9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5D7F9A-5AB7-422F-9DDC-03E1AE3A96C5}" type="doc">
      <dgm:prSet loTypeId="urn:microsoft.com/office/officeart/2018/2/layout/IconVerticalSolidList" loCatId="icon" qsTypeId="urn:microsoft.com/office/officeart/2005/8/quickstyle/simple1#15" qsCatId="simple" csTypeId="urn:microsoft.com/office/officeart/2005/8/colors/accent2_2#9" csCatId="accent2" phldr="1"/>
      <dgm:spPr/>
      <dgm:t>
        <a:bodyPr/>
        <a:lstStyle/>
        <a:p>
          <a:endParaRPr lang="en-US"/>
        </a:p>
      </dgm:t>
    </dgm:pt>
    <dgm:pt modelId="{0AAB0337-77EC-4835-A974-521F75D6B9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Why is it only for your employer? Why are we still just prompting?</a:t>
          </a:r>
          <a:endParaRPr lang="en-US" i="0" dirty="0"/>
        </a:p>
      </dgm:t>
    </dgm:pt>
    <dgm:pt modelId="{E6636BC8-D81B-438C-BC65-D28C28C033DA}" type="parTrans" cxnId="{57202067-A911-4A9A-9909-72B9706C53A0}">
      <dgm:prSet/>
      <dgm:spPr/>
      <dgm:t>
        <a:bodyPr/>
        <a:lstStyle/>
        <a:p>
          <a:endParaRPr lang="en-US"/>
        </a:p>
      </dgm:t>
    </dgm:pt>
    <dgm:pt modelId="{529D4F11-DB25-44AD-AA48-723D2715EFB7}" type="sibTrans" cxnId="{57202067-A911-4A9A-9909-72B9706C53A0}">
      <dgm:prSet/>
      <dgm:spPr/>
      <dgm:t>
        <a:bodyPr/>
        <a:lstStyle/>
        <a:p>
          <a:endParaRPr lang="en-US"/>
        </a:p>
      </dgm:t>
    </dgm:pt>
    <dgm:pt modelId="{ECFA04DC-8A91-49FB-8DE5-9CFF2E1B18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Subject to whether your tasks get chosen for planning or pushed to next planning meeting</a:t>
          </a:r>
        </a:p>
      </dgm:t>
    </dgm:pt>
    <dgm:pt modelId="{9CBC5C87-C2A0-4CB2-8DBC-F1DDA4F066FF}" type="parTrans" cxnId="{55C9FB45-7A87-4776-B682-9CC90F103989}">
      <dgm:prSet/>
      <dgm:spPr/>
      <dgm:t>
        <a:bodyPr/>
        <a:lstStyle/>
        <a:p>
          <a:endParaRPr lang="en-US"/>
        </a:p>
      </dgm:t>
    </dgm:pt>
    <dgm:pt modelId="{8C9B7ED9-266B-4AB6-B55C-24B4D4EF78D9}" type="sibTrans" cxnId="{55C9FB45-7A87-4776-B682-9CC90F103989}">
      <dgm:prSet/>
      <dgm:spPr/>
      <dgm:t>
        <a:bodyPr/>
        <a:lstStyle/>
        <a:p>
          <a:endParaRPr lang="en-US"/>
        </a:p>
      </dgm:t>
    </dgm:pt>
    <dgm:pt modelId="{F037C937-CD92-4477-BD25-F39EC18813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Goes through the whole DevOps process – do we need that scale on our local machines?</a:t>
          </a:r>
        </a:p>
      </dgm:t>
    </dgm:pt>
    <dgm:pt modelId="{E697C17C-3831-4EC3-8EF8-E427053AB848}" type="parTrans" cxnId="{575677A9-70B8-41A0-B1E8-37219DD12759}">
      <dgm:prSet/>
      <dgm:spPr/>
      <dgm:t>
        <a:bodyPr/>
        <a:lstStyle/>
        <a:p>
          <a:endParaRPr lang="en-US"/>
        </a:p>
      </dgm:t>
    </dgm:pt>
    <dgm:pt modelId="{4050E130-5EBB-42B2-A7CD-372F39663204}" type="sibTrans" cxnId="{575677A9-70B8-41A0-B1E8-37219DD12759}">
      <dgm:prSet/>
      <dgm:spPr/>
      <dgm:t>
        <a:bodyPr/>
        <a:lstStyle/>
        <a:p>
          <a:endParaRPr lang="en-US"/>
        </a:p>
      </dgm:t>
    </dgm:pt>
    <dgm:pt modelId="{21595EBB-D6CE-458A-8703-ED5D3F6B3340}" type="pres">
      <dgm:prSet presAssocID="{6D5D7F9A-5AB7-422F-9DDC-03E1AE3A96C5}" presName="root" presStyleCnt="0">
        <dgm:presLayoutVars>
          <dgm:dir/>
          <dgm:resizeHandles val="exact"/>
        </dgm:presLayoutVars>
      </dgm:prSet>
      <dgm:spPr/>
    </dgm:pt>
    <dgm:pt modelId="{E2372285-B379-46F3-BAFB-FCE0A5C3527D}" type="pres">
      <dgm:prSet presAssocID="{ECFA04DC-8A91-49FB-8DE5-9CFF2E1B1886}" presName="compNode" presStyleCnt="0"/>
      <dgm:spPr/>
    </dgm:pt>
    <dgm:pt modelId="{2872AB5E-9C7A-4419-A145-8CD97DF8786C}" type="pres">
      <dgm:prSet presAssocID="{ECFA04DC-8A91-49FB-8DE5-9CFF2E1B1886}" presName="bgRect" presStyleLbl="bgShp" presStyleIdx="0" presStyleCnt="3"/>
      <dgm:spPr/>
    </dgm:pt>
    <dgm:pt modelId="{D55ED941-9F2D-4BD6-8766-5994B1AD5BBD}" type="pres">
      <dgm:prSet presAssocID="{ECFA04DC-8A91-49FB-8DE5-9CFF2E1B188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C2D2F74C-E695-472D-97C8-F93F53D8FE53}" type="pres">
      <dgm:prSet presAssocID="{ECFA04DC-8A91-49FB-8DE5-9CFF2E1B1886}" presName="spaceRect" presStyleCnt="0"/>
      <dgm:spPr/>
    </dgm:pt>
    <dgm:pt modelId="{BA3DBD44-DC80-444E-8ACD-9B72C80A4AFE}" type="pres">
      <dgm:prSet presAssocID="{ECFA04DC-8A91-49FB-8DE5-9CFF2E1B1886}" presName="parTx" presStyleLbl="revTx" presStyleIdx="0" presStyleCnt="3">
        <dgm:presLayoutVars>
          <dgm:chMax val="0"/>
          <dgm:chPref val="0"/>
        </dgm:presLayoutVars>
      </dgm:prSet>
      <dgm:spPr/>
    </dgm:pt>
    <dgm:pt modelId="{F6FE8E0F-46E2-4E6A-8ECC-66D8B8A3554D}" type="pres">
      <dgm:prSet presAssocID="{8C9B7ED9-266B-4AB6-B55C-24B4D4EF78D9}" presName="sibTrans" presStyleCnt="0"/>
      <dgm:spPr/>
    </dgm:pt>
    <dgm:pt modelId="{44EE1A23-D084-4E7B-AA65-0781CB83B6C2}" type="pres">
      <dgm:prSet presAssocID="{F037C937-CD92-4477-BD25-F39EC18813C4}" presName="compNode" presStyleCnt="0"/>
      <dgm:spPr/>
    </dgm:pt>
    <dgm:pt modelId="{60C80CC0-8B50-4A76-8C5C-C8F12A3010AF}" type="pres">
      <dgm:prSet presAssocID="{F037C937-CD92-4477-BD25-F39EC18813C4}" presName="bgRect" presStyleLbl="bgShp" presStyleIdx="1" presStyleCnt="3"/>
      <dgm:spPr/>
    </dgm:pt>
    <dgm:pt modelId="{02909297-308D-4171-9696-E5290DC5E175}" type="pres">
      <dgm:prSet presAssocID="{F037C937-CD92-4477-BD25-F39EC18813C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76DEBE9-53E9-47D0-9354-66497A4BD0A2}" type="pres">
      <dgm:prSet presAssocID="{F037C937-CD92-4477-BD25-F39EC18813C4}" presName="spaceRect" presStyleCnt="0"/>
      <dgm:spPr/>
    </dgm:pt>
    <dgm:pt modelId="{51296ACE-06CC-458C-B46E-DA271FA52229}" type="pres">
      <dgm:prSet presAssocID="{F037C937-CD92-4477-BD25-F39EC18813C4}" presName="parTx" presStyleLbl="revTx" presStyleIdx="1" presStyleCnt="3">
        <dgm:presLayoutVars>
          <dgm:chMax val="0"/>
          <dgm:chPref val="0"/>
        </dgm:presLayoutVars>
      </dgm:prSet>
      <dgm:spPr/>
    </dgm:pt>
    <dgm:pt modelId="{EEC54BA1-81A7-4945-94E0-DB7420AA3FD4}" type="pres">
      <dgm:prSet presAssocID="{4050E130-5EBB-42B2-A7CD-372F39663204}" presName="sibTrans" presStyleCnt="0"/>
      <dgm:spPr/>
    </dgm:pt>
    <dgm:pt modelId="{D05E5EB0-28AF-459B-B2BD-BFB26B307EEB}" type="pres">
      <dgm:prSet presAssocID="{0AAB0337-77EC-4835-A974-521F75D6B9F7}" presName="compNode" presStyleCnt="0"/>
      <dgm:spPr/>
    </dgm:pt>
    <dgm:pt modelId="{FC252FF6-7EF7-4C96-A7EA-40993EA23A05}" type="pres">
      <dgm:prSet presAssocID="{0AAB0337-77EC-4835-A974-521F75D6B9F7}" presName="bgRect" presStyleLbl="bgShp" presStyleIdx="2" presStyleCnt="3"/>
      <dgm:spPr/>
    </dgm:pt>
    <dgm:pt modelId="{1DB82893-A845-4BB1-9EEC-EF9381C8F4E9}" type="pres">
      <dgm:prSet presAssocID="{0AAB0337-77EC-4835-A974-521F75D6B9F7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 with solid fill"/>
        </a:ext>
      </dgm:extLst>
    </dgm:pt>
    <dgm:pt modelId="{6548CDE7-34DD-4B47-BBCE-B6E76D398C3B}" type="pres">
      <dgm:prSet presAssocID="{0AAB0337-77EC-4835-A974-521F75D6B9F7}" presName="spaceRect" presStyleCnt="0"/>
      <dgm:spPr/>
    </dgm:pt>
    <dgm:pt modelId="{5991C766-F81E-45DD-B952-46E4700846AB}" type="pres">
      <dgm:prSet presAssocID="{0AAB0337-77EC-4835-A974-521F75D6B9F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87BB52C-FCCD-4FDD-8D6D-E81A9A128FF1}" type="presOf" srcId="{F037C937-CD92-4477-BD25-F39EC18813C4}" destId="{51296ACE-06CC-458C-B46E-DA271FA52229}" srcOrd="0" destOrd="0" presId="urn:microsoft.com/office/officeart/2018/2/layout/IconVerticalSolidList"/>
    <dgm:cxn modelId="{55C9FB45-7A87-4776-B682-9CC90F103989}" srcId="{6D5D7F9A-5AB7-422F-9DDC-03E1AE3A96C5}" destId="{ECFA04DC-8A91-49FB-8DE5-9CFF2E1B1886}" srcOrd="0" destOrd="0" parTransId="{9CBC5C87-C2A0-4CB2-8DBC-F1DDA4F066FF}" sibTransId="{8C9B7ED9-266B-4AB6-B55C-24B4D4EF78D9}"/>
    <dgm:cxn modelId="{57202067-A911-4A9A-9909-72B9706C53A0}" srcId="{6D5D7F9A-5AB7-422F-9DDC-03E1AE3A96C5}" destId="{0AAB0337-77EC-4835-A974-521F75D6B9F7}" srcOrd="2" destOrd="0" parTransId="{E6636BC8-D81B-438C-BC65-D28C28C033DA}" sibTransId="{529D4F11-DB25-44AD-AA48-723D2715EFB7}"/>
    <dgm:cxn modelId="{55F99074-9E3A-4611-BE10-ED7326C4379F}" type="presOf" srcId="{6D5D7F9A-5AB7-422F-9DDC-03E1AE3A96C5}" destId="{21595EBB-D6CE-458A-8703-ED5D3F6B3340}" srcOrd="0" destOrd="0" presId="urn:microsoft.com/office/officeart/2018/2/layout/IconVerticalSolidList"/>
    <dgm:cxn modelId="{A27BCF81-65DC-4C75-BC33-AF3C301D5B3D}" type="presOf" srcId="{ECFA04DC-8A91-49FB-8DE5-9CFF2E1B1886}" destId="{BA3DBD44-DC80-444E-8ACD-9B72C80A4AFE}" srcOrd="0" destOrd="0" presId="urn:microsoft.com/office/officeart/2018/2/layout/IconVerticalSolidList"/>
    <dgm:cxn modelId="{575677A9-70B8-41A0-B1E8-37219DD12759}" srcId="{6D5D7F9A-5AB7-422F-9DDC-03E1AE3A96C5}" destId="{F037C937-CD92-4477-BD25-F39EC18813C4}" srcOrd="1" destOrd="0" parTransId="{E697C17C-3831-4EC3-8EF8-E427053AB848}" sibTransId="{4050E130-5EBB-42B2-A7CD-372F39663204}"/>
    <dgm:cxn modelId="{E9B441CE-4152-4386-AC13-67F2BF8D3776}" type="presOf" srcId="{0AAB0337-77EC-4835-A974-521F75D6B9F7}" destId="{5991C766-F81E-45DD-B952-46E4700846AB}" srcOrd="0" destOrd="0" presId="urn:microsoft.com/office/officeart/2018/2/layout/IconVerticalSolidList"/>
    <dgm:cxn modelId="{7CB84196-C474-4C8F-A9E8-BA55A0C321DC}" type="presParOf" srcId="{21595EBB-D6CE-458A-8703-ED5D3F6B3340}" destId="{E2372285-B379-46F3-BAFB-FCE0A5C3527D}" srcOrd="0" destOrd="0" presId="urn:microsoft.com/office/officeart/2018/2/layout/IconVerticalSolidList"/>
    <dgm:cxn modelId="{5D89AC01-03BD-4E74-8B98-6543C18BE2CC}" type="presParOf" srcId="{E2372285-B379-46F3-BAFB-FCE0A5C3527D}" destId="{2872AB5E-9C7A-4419-A145-8CD97DF8786C}" srcOrd="0" destOrd="0" presId="urn:microsoft.com/office/officeart/2018/2/layout/IconVerticalSolidList"/>
    <dgm:cxn modelId="{4CF47F73-7FB3-4100-8D4A-594F843044EA}" type="presParOf" srcId="{E2372285-B379-46F3-BAFB-FCE0A5C3527D}" destId="{D55ED941-9F2D-4BD6-8766-5994B1AD5BBD}" srcOrd="1" destOrd="0" presId="urn:microsoft.com/office/officeart/2018/2/layout/IconVerticalSolidList"/>
    <dgm:cxn modelId="{55D21B1D-2714-4885-80CC-3B861F78222A}" type="presParOf" srcId="{E2372285-B379-46F3-BAFB-FCE0A5C3527D}" destId="{C2D2F74C-E695-472D-97C8-F93F53D8FE53}" srcOrd="2" destOrd="0" presId="urn:microsoft.com/office/officeart/2018/2/layout/IconVerticalSolidList"/>
    <dgm:cxn modelId="{29C1BBAF-1B4E-4C87-BA47-1EB443D0C3BC}" type="presParOf" srcId="{E2372285-B379-46F3-BAFB-FCE0A5C3527D}" destId="{BA3DBD44-DC80-444E-8ACD-9B72C80A4AFE}" srcOrd="3" destOrd="0" presId="urn:microsoft.com/office/officeart/2018/2/layout/IconVerticalSolidList"/>
    <dgm:cxn modelId="{5A6024D2-F1EC-4CBD-8A6A-AEA8E4B692C5}" type="presParOf" srcId="{21595EBB-D6CE-458A-8703-ED5D3F6B3340}" destId="{F6FE8E0F-46E2-4E6A-8ECC-66D8B8A3554D}" srcOrd="1" destOrd="0" presId="urn:microsoft.com/office/officeart/2018/2/layout/IconVerticalSolidList"/>
    <dgm:cxn modelId="{AD8D4BA3-0C74-4812-97E9-65DCCC088156}" type="presParOf" srcId="{21595EBB-D6CE-458A-8703-ED5D3F6B3340}" destId="{44EE1A23-D084-4E7B-AA65-0781CB83B6C2}" srcOrd="2" destOrd="0" presId="urn:microsoft.com/office/officeart/2018/2/layout/IconVerticalSolidList"/>
    <dgm:cxn modelId="{D0427223-88C8-4F1F-A40D-6E6604661349}" type="presParOf" srcId="{44EE1A23-D084-4E7B-AA65-0781CB83B6C2}" destId="{60C80CC0-8B50-4A76-8C5C-C8F12A3010AF}" srcOrd="0" destOrd="0" presId="urn:microsoft.com/office/officeart/2018/2/layout/IconVerticalSolidList"/>
    <dgm:cxn modelId="{94E046AF-6447-474B-8DD2-6CA66CF73159}" type="presParOf" srcId="{44EE1A23-D084-4E7B-AA65-0781CB83B6C2}" destId="{02909297-308D-4171-9696-E5290DC5E175}" srcOrd="1" destOrd="0" presId="urn:microsoft.com/office/officeart/2018/2/layout/IconVerticalSolidList"/>
    <dgm:cxn modelId="{417D55DC-E5D6-4E26-861A-B286A4F9E612}" type="presParOf" srcId="{44EE1A23-D084-4E7B-AA65-0781CB83B6C2}" destId="{276DEBE9-53E9-47D0-9354-66497A4BD0A2}" srcOrd="2" destOrd="0" presId="urn:microsoft.com/office/officeart/2018/2/layout/IconVerticalSolidList"/>
    <dgm:cxn modelId="{64881013-A9D4-476E-9717-10BE9FEDF430}" type="presParOf" srcId="{44EE1A23-D084-4E7B-AA65-0781CB83B6C2}" destId="{51296ACE-06CC-458C-B46E-DA271FA52229}" srcOrd="3" destOrd="0" presId="urn:microsoft.com/office/officeart/2018/2/layout/IconVerticalSolidList"/>
    <dgm:cxn modelId="{C006E710-38E4-4D2C-8CF9-1BF32A7C270B}" type="presParOf" srcId="{21595EBB-D6CE-458A-8703-ED5D3F6B3340}" destId="{EEC54BA1-81A7-4945-94E0-DB7420AA3FD4}" srcOrd="3" destOrd="0" presId="urn:microsoft.com/office/officeart/2018/2/layout/IconVerticalSolidList"/>
    <dgm:cxn modelId="{FB602FE3-512D-40EA-8AFC-F7ADA579954C}" type="presParOf" srcId="{21595EBB-D6CE-458A-8703-ED5D3F6B3340}" destId="{D05E5EB0-28AF-459B-B2BD-BFB26B307EEB}" srcOrd="4" destOrd="0" presId="urn:microsoft.com/office/officeart/2018/2/layout/IconVerticalSolidList"/>
    <dgm:cxn modelId="{002C4D53-F436-4377-8625-3AB0C9C13BAB}" type="presParOf" srcId="{D05E5EB0-28AF-459B-B2BD-BFB26B307EEB}" destId="{FC252FF6-7EF7-4C96-A7EA-40993EA23A05}" srcOrd="0" destOrd="0" presId="urn:microsoft.com/office/officeart/2018/2/layout/IconVerticalSolidList"/>
    <dgm:cxn modelId="{0EE2826C-C545-48DA-AE6A-A9886FFB4DA4}" type="presParOf" srcId="{D05E5EB0-28AF-459B-B2BD-BFB26B307EEB}" destId="{1DB82893-A845-4BB1-9EEC-EF9381C8F4E9}" srcOrd="1" destOrd="0" presId="urn:microsoft.com/office/officeart/2018/2/layout/IconVerticalSolidList"/>
    <dgm:cxn modelId="{863E3FDB-A236-4299-A1D7-3DC902F4E23F}" type="presParOf" srcId="{D05E5EB0-28AF-459B-B2BD-BFB26B307EEB}" destId="{6548CDE7-34DD-4B47-BBCE-B6E76D398C3B}" srcOrd="2" destOrd="0" presId="urn:microsoft.com/office/officeart/2018/2/layout/IconVerticalSolidList"/>
    <dgm:cxn modelId="{51896BC2-0A23-4C4D-945E-5029B5B7C960}" type="presParOf" srcId="{D05E5EB0-28AF-459B-B2BD-BFB26B307EEB}" destId="{5991C766-F81E-45DD-B952-46E4700846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2AB5E-9C7A-4419-A145-8CD97DF8786C}">
      <dsp:nvSpPr>
        <dsp:cNvPr id="0" name=""/>
        <dsp:cNvSpPr/>
      </dsp:nvSpPr>
      <dsp:spPr>
        <a:xfrm>
          <a:off x="0" y="474"/>
          <a:ext cx="9790112" cy="11100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ED941-9F2D-4BD6-8766-5994B1AD5BBD}">
      <dsp:nvSpPr>
        <dsp:cNvPr id="0" name=""/>
        <dsp:cNvSpPr/>
      </dsp:nvSpPr>
      <dsp:spPr>
        <a:xfrm>
          <a:off x="335796" y="250240"/>
          <a:ext cx="610539" cy="610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DBD44-DC80-444E-8ACD-9B72C80A4AFE}">
      <dsp:nvSpPr>
        <dsp:cNvPr id="0" name=""/>
        <dsp:cNvSpPr/>
      </dsp:nvSpPr>
      <dsp:spPr>
        <a:xfrm>
          <a:off x="1282132" y="474"/>
          <a:ext cx="8507979" cy="111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83" tIns="117483" rIns="117483" bIns="117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Subject to whether your tasks get chosen for planning or pushed to next planning meeting</a:t>
          </a:r>
        </a:p>
      </dsp:txBody>
      <dsp:txXfrm>
        <a:off x="1282132" y="474"/>
        <a:ext cx="8507979" cy="1110071"/>
      </dsp:txXfrm>
    </dsp:sp>
    <dsp:sp modelId="{60C80CC0-8B50-4A76-8C5C-C8F12A3010AF}">
      <dsp:nvSpPr>
        <dsp:cNvPr id="0" name=""/>
        <dsp:cNvSpPr/>
      </dsp:nvSpPr>
      <dsp:spPr>
        <a:xfrm>
          <a:off x="0" y="1388064"/>
          <a:ext cx="9790112" cy="11100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09297-308D-4171-9696-E5290DC5E175}">
      <dsp:nvSpPr>
        <dsp:cNvPr id="0" name=""/>
        <dsp:cNvSpPr/>
      </dsp:nvSpPr>
      <dsp:spPr>
        <a:xfrm>
          <a:off x="335796" y="1637830"/>
          <a:ext cx="610539" cy="610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96ACE-06CC-458C-B46E-DA271FA52229}">
      <dsp:nvSpPr>
        <dsp:cNvPr id="0" name=""/>
        <dsp:cNvSpPr/>
      </dsp:nvSpPr>
      <dsp:spPr>
        <a:xfrm>
          <a:off x="1282132" y="1388064"/>
          <a:ext cx="8507979" cy="111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83" tIns="117483" rIns="117483" bIns="117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Goes through the whole DevOps process – do we need that scale on our local machines?</a:t>
          </a:r>
        </a:p>
      </dsp:txBody>
      <dsp:txXfrm>
        <a:off x="1282132" y="1388064"/>
        <a:ext cx="8507979" cy="1110071"/>
      </dsp:txXfrm>
    </dsp:sp>
    <dsp:sp modelId="{FC252FF6-7EF7-4C96-A7EA-40993EA23A05}">
      <dsp:nvSpPr>
        <dsp:cNvPr id="0" name=""/>
        <dsp:cNvSpPr/>
      </dsp:nvSpPr>
      <dsp:spPr>
        <a:xfrm>
          <a:off x="0" y="2775653"/>
          <a:ext cx="9790112" cy="11100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82893-A845-4BB1-9EEC-EF9381C8F4E9}">
      <dsp:nvSpPr>
        <dsp:cNvPr id="0" name=""/>
        <dsp:cNvSpPr/>
      </dsp:nvSpPr>
      <dsp:spPr>
        <a:xfrm>
          <a:off x="335796" y="3025419"/>
          <a:ext cx="610539" cy="61053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1C766-F81E-45DD-B952-46E4700846AB}">
      <dsp:nvSpPr>
        <dsp:cNvPr id="0" name=""/>
        <dsp:cNvSpPr/>
      </dsp:nvSpPr>
      <dsp:spPr>
        <a:xfrm>
          <a:off x="1282132" y="2775653"/>
          <a:ext cx="8507979" cy="111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83" tIns="117483" rIns="117483" bIns="117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Why is it only for your employer? Why are we still just prompting?</a:t>
          </a:r>
          <a:endParaRPr lang="en-US" sz="2500" i="0" kern="1200" dirty="0"/>
        </a:p>
      </dsp:txBody>
      <dsp:txXfrm>
        <a:off x="1282132" y="2775653"/>
        <a:ext cx="8507979" cy="1110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get started, a quick shout out to the sponsors of </a:t>
            </a:r>
            <a:r>
              <a:rPr lang="en-US" dirty="0" err="1"/>
              <a:t>Techbash</a:t>
            </a:r>
            <a:r>
              <a:rPr lang="en-US" dirty="0"/>
              <a:t> who help make this thing happen.</a:t>
            </a:r>
          </a:p>
          <a:p>
            <a:endParaRPr lang="en-US" dirty="0"/>
          </a:p>
          <a:p>
            <a:r>
              <a:rPr lang="en-US" dirty="0"/>
              <a:t>As much as they’d love to run this thing </a:t>
            </a:r>
            <a:r>
              <a:rPr lang="en-US" dirty="0" err="1"/>
              <a:t>outta</a:t>
            </a:r>
            <a:r>
              <a:rPr lang="en-US" dirty="0"/>
              <a:t> the kindness of their hearts, money makes things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15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Onto the good part!</a:t>
            </a:r>
          </a:p>
          <a:p>
            <a:endParaRPr lang="en-US" dirty="0"/>
          </a:p>
          <a:p>
            <a:r>
              <a:rPr lang="en-US" dirty="0"/>
              <a:t>I grew up with real-time strategy games as a kid: Age of Empires, Star Wars Galactic Battlegrounds, StarCraft, </a:t>
            </a:r>
            <a:r>
              <a:rPr lang="en-US" dirty="0" err="1"/>
              <a:t>WarCraft</a:t>
            </a:r>
            <a:r>
              <a:rPr lang="en-US" dirty="0"/>
              <a:t>, you name it. I still play Age of Empires 4 PvP when I can!</a:t>
            </a:r>
          </a:p>
          <a:p>
            <a:endParaRPr lang="en-US" dirty="0"/>
          </a:p>
          <a:p>
            <a:r>
              <a:rPr lang="en-US" dirty="0"/>
              <a:t>In this genre of video games, the challenge is in delegating work: assign a scout to travel, soldiers to guard, workers to build and harvest.</a:t>
            </a:r>
          </a:p>
          <a:p>
            <a:endParaRPr lang="en-US" dirty="0"/>
          </a:p>
          <a:p>
            <a:r>
              <a:rPr lang="en-US" dirty="0"/>
              <a:t>Today, I want you to feel like AI can work for you just like that. I want you to be able to command your droids like I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97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Little bit about me, I’m Jonathan and I work at Clear Measure, trying to make software better one pillar at a time.</a:t>
            </a:r>
          </a:p>
          <a:p>
            <a:endParaRPr lang="en-US" dirty="0"/>
          </a:p>
          <a:p>
            <a:r>
              <a:rPr lang="en-US" dirty="0"/>
              <a:t>I’ve gotten around the software world. I’ve written tooling, done QA Automation as a SDET, made and supported desktop apps, now working in the web like everyone else.</a:t>
            </a:r>
          </a:p>
          <a:p>
            <a:endParaRPr lang="en-US" dirty="0"/>
          </a:p>
          <a:p>
            <a:r>
              <a:rPr lang="en-US" dirty="0"/>
              <a:t>C#’s my bread and butter but I’ve shipped in Python, Java, JavaScript, and TypeScript.</a:t>
            </a:r>
          </a:p>
          <a:p>
            <a:endParaRPr lang="en-US" dirty="0"/>
          </a:p>
          <a:p>
            <a:r>
              <a:rPr lang="en-US" dirty="0"/>
              <a:t>Outside of work, I’m trying to become a better photographer.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00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be frank, it’s been a </a:t>
            </a:r>
            <a:r>
              <a:rPr lang="en-US" dirty="0" err="1"/>
              <a:t>helluva</a:t>
            </a:r>
            <a:r>
              <a:rPr lang="en-US" dirty="0"/>
              <a:t> year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Moltbook</a:t>
            </a:r>
            <a:r>
              <a:rPr lang="en-US" dirty="0"/>
              <a:t> psychosis</a:t>
            </a:r>
          </a:p>
          <a:p>
            <a:pPr marL="171450" indent="-171450">
              <a:buFontTx/>
              <a:buChar char="-"/>
            </a:pPr>
            <a:r>
              <a:rPr lang="en-US" dirty="0"/>
              <a:t>Millions in token spend</a:t>
            </a:r>
          </a:p>
          <a:p>
            <a:pPr marL="171450" indent="-171450">
              <a:buFontTx/>
              <a:buChar char="-"/>
            </a:pPr>
            <a:r>
              <a:rPr lang="en-US" dirty="0"/>
              <a:t>$900 RAM sticks</a:t>
            </a:r>
          </a:p>
          <a:p>
            <a:pPr marL="171450" indent="-171450">
              <a:buFontTx/>
              <a:buChar char="-"/>
            </a:pPr>
            <a:r>
              <a:rPr lang="en-US" dirty="0"/>
              <a:t>AI generated food for menus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What a mess.</a:t>
            </a:r>
          </a:p>
          <a:p>
            <a:endParaRPr lang="en-US" dirty="0"/>
          </a:p>
          <a:p>
            <a:r>
              <a:rPr lang="en-US" dirty="0"/>
              <a:t>Regardless, there’s been a lot of adventurous spirit from the dev community trying to push LLMs to their limits with skill libraries, ralph loops, and token efficiency</a:t>
            </a:r>
          </a:p>
          <a:p>
            <a:endParaRPr lang="en-US" dirty="0"/>
          </a:p>
          <a:p>
            <a:r>
              <a:rPr lang="en-US" dirty="0"/>
              <a:t>Those things are cool, but have they really accelerated us individually?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82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move past </a:t>
            </a:r>
            <a:r>
              <a:rPr lang="en-US" dirty="0" err="1"/>
              <a:t>promptmaxxing</a:t>
            </a:r>
            <a:r>
              <a:rPr lang="en-US" dirty="0"/>
              <a:t> and start commanding our droids?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88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AF33-BDAF-C092-371E-E89D0882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5F0F7-9169-EB85-09AD-5AD0C8F5F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57689-84D5-3733-D3FF-8A2F265BB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you’re here, you likely attended Jeffrey Palermo’s crazy good party.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49955-F952-D653-9B08-D1DEAE702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56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2060-1D27-547E-6A8A-0CB2C1D25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D3971-9852-6C20-0148-DDD6E7178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77F3F-1D37-AA0B-6813-3D0BAFF90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</a:t>
            </a:r>
            <a:r>
              <a:rPr lang="en-US" i="1" dirty="0"/>
              <a:t>also</a:t>
            </a:r>
            <a:r>
              <a:rPr lang="en-US" i="0" dirty="0"/>
              <a:t> likely attended his crazy good keynote about his vision for the AI Software Factory.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04E1-63A7-37D8-6295-7715D2006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195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Software Factory isn’t a tool in and of itself, but an </a:t>
            </a:r>
            <a:r>
              <a:rPr lang="en-US" i="0" dirty="0"/>
              <a:t>orchestration pattern that sits above a DevOps system.</a:t>
            </a:r>
          </a:p>
          <a:p>
            <a:endParaRPr lang="en-US" i="0" dirty="0"/>
          </a:p>
          <a:p>
            <a:r>
              <a:rPr lang="en-US" i="0" dirty="0"/>
              <a:t>It gives a company’s developers, managers, and business analysts an AI powered system that ingests tasks from their work tracking system and turns them into features by pushing them through the software development lifecycle.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 developers have seen the vision in parallel: Simon Willison talked extensively about it through several blog posts on </a:t>
            </a:r>
            <a:r>
              <a:rPr lang="en-US" dirty="0" err="1"/>
              <a:t>HackerNews</a:t>
            </a:r>
            <a:r>
              <a:rPr lang="en-US" dirty="0"/>
              <a:t>, Matt Pocock has an experimental TypeScript project, and Docker’s already made Sandbox for spinning up isolated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03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idea, fantastic even! But…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Any tasks that </a:t>
            </a:r>
            <a:r>
              <a:rPr lang="en-US" i="1" dirty="0"/>
              <a:t>we</a:t>
            </a:r>
            <a:r>
              <a:rPr lang="en-US" i="0" dirty="0"/>
              <a:t> want or need to do are subject to everyone’s availability for planning meetings, let alone whether they’re chosen.</a:t>
            </a:r>
          </a:p>
          <a:p>
            <a:pPr marL="171450" indent="-171450">
              <a:buFontTx/>
              <a:buChar char="-"/>
            </a:pPr>
            <a:endParaRPr lang="en-US" i="0" dirty="0"/>
          </a:p>
          <a:p>
            <a:pPr marL="171450" indent="-171450">
              <a:buFontTx/>
              <a:buChar char="-"/>
            </a:pPr>
            <a:r>
              <a:rPr lang="en-US" i="0" dirty="0"/>
              <a:t>Do we need the scale of our workplace’s DevOps process locally? Probably not…</a:t>
            </a:r>
          </a:p>
          <a:p>
            <a:pPr marL="171450" indent="-171450">
              <a:buFontTx/>
              <a:buChar char="-"/>
            </a:pPr>
            <a:endParaRPr lang="en-US" i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Our workplaces directly benefit, but what about us? Why are we still </a:t>
            </a:r>
            <a:r>
              <a:rPr lang="en-US" i="1" dirty="0"/>
              <a:t>just</a:t>
            </a:r>
            <a:r>
              <a:rPr lang="en-US" i="0" dirty="0"/>
              <a:t> prompting?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91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LLMs should be able to handle tasks that we give them while we investigate, collaborate, and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real-time strategy games, we delegate work while we assess the battlefield.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Why can’t we do that with LLMs?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31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Obviously, we can! Just like a home chef, we have all the ingredients we need at home</a:t>
            </a:r>
          </a:p>
          <a:p>
            <a:endParaRPr lang="en-US" dirty="0"/>
          </a:p>
          <a:p>
            <a:r>
              <a:rPr lang="en-US" dirty="0"/>
              <a:t>We can program, most harnesses expose SDKs in a common or agreeable language, and we can choose from several Kanban boards &amp; task trackers</a:t>
            </a:r>
          </a:p>
          <a:p>
            <a:endParaRPr lang="en-US" dirty="0"/>
          </a:p>
          <a:p>
            <a:r>
              <a:rPr lang="en-US" dirty="0"/>
              <a:t>I’ve been trialing a scaled-down software factory both on my own and with a client. </a:t>
            </a:r>
          </a:p>
          <a:p>
            <a:endParaRPr lang="en-US" dirty="0"/>
          </a:p>
          <a:p>
            <a:r>
              <a:rPr lang="en-US" dirty="0"/>
              <a:t>I’ve used the SDKs made available by </a:t>
            </a:r>
            <a:r>
              <a:rPr lang="en-US" dirty="0" err="1"/>
              <a:t>SpaceXAI</a:t>
            </a:r>
            <a:r>
              <a:rPr lang="en-US" dirty="0"/>
              <a:t> and Copilot, and I’ve chosen the CLI tool Backlog.md to act as my Kanban board/task tracker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861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this process is new: you’ve been on refinement meetings, you’ve written scripts, you know what LLMs are capable of at this point</a:t>
            </a:r>
          </a:p>
          <a:p>
            <a:endParaRPr lang="en-US" dirty="0"/>
          </a:p>
          <a:p>
            <a:r>
              <a:rPr lang="en-US" dirty="0"/>
              <a:t>However, it’s a substantial change from normal development: you become much more present in terms of planning and design, but get to delegate work and watch it happen in the background</a:t>
            </a:r>
          </a:p>
          <a:p>
            <a:endParaRPr lang="en-US" dirty="0"/>
          </a:p>
          <a:p>
            <a:r>
              <a:rPr lang="en-US" dirty="0"/>
              <a:t>You become a manager of LLMs: it grabs a task, you check its implementation plan for said task, it works the task, and you review its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687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BCA3-A1CE-3BCD-7482-245BE7E6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553A7-C67A-DA12-FCE6-C06A1EBDD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F36F1-D57C-15F2-7168-49F56B7EC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Enough talk, let’s see some software in 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DF21A-8991-76FC-79F7-9E87150E1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798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we’ve gone thought all that, the burning question – why? There’s so much effort here, some seemingly duplicated: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writing a script that you’ll have to maintain, possibly grow</a:t>
            </a:r>
          </a:p>
          <a:p>
            <a:pPr marL="171450" indent="-171450">
              <a:buFontTx/>
              <a:buChar char="-"/>
            </a:pPr>
            <a:r>
              <a:rPr lang="en-US" dirty="0"/>
              <a:t>setting up tooling you’ll have to learn about</a:t>
            </a:r>
          </a:p>
          <a:p>
            <a:pPr marL="171450" indent="-171450">
              <a:buFontTx/>
              <a:buChar char="-"/>
            </a:pPr>
            <a:r>
              <a:rPr lang="en-US" dirty="0"/>
              <a:t>planning out tasks and subtasks, don’t we already do that in refinement?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Why not keep prompting the usual way? Why not just keep writing skills?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23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Flexibility.</a:t>
            </a:r>
          </a:p>
          <a:p>
            <a:endParaRPr lang="en-US" dirty="0"/>
          </a:p>
          <a:p>
            <a:r>
              <a:rPr lang="en-US" dirty="0"/>
              <a:t>A little bit of elbow grease gives you true task delegation and faster prototyping.</a:t>
            </a:r>
          </a:p>
          <a:p>
            <a:endParaRPr lang="en-US" dirty="0"/>
          </a:p>
          <a:p>
            <a:r>
              <a:rPr lang="en-US" dirty="0"/>
              <a:t>Bugs don’t bring your dev work to a complete halt. </a:t>
            </a:r>
          </a:p>
          <a:p>
            <a:endParaRPr lang="en-US" dirty="0"/>
          </a:p>
          <a:p>
            <a:r>
              <a:rPr lang="en-US" dirty="0"/>
              <a:t>You can choose to delegate easy or hard work to your LLM.</a:t>
            </a:r>
          </a:p>
          <a:p>
            <a:endParaRPr lang="en-US" dirty="0"/>
          </a:p>
          <a:p>
            <a:r>
              <a:rPr lang="en-US" dirty="0"/>
              <a:t>LLM code output speed means it’s easier than ever to get an experiment off the ground, especially with renewed interest in git </a:t>
            </a:r>
            <a:r>
              <a:rPr lang="en-US" dirty="0" err="1"/>
              <a:t>worktrees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Additionally, you get flexibility in tooling. Take your local factory with you between operating systems, change it to suit your needs and limits for models and tools like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893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Productivity. </a:t>
            </a:r>
          </a:p>
          <a:p>
            <a:endParaRPr lang="en-US" dirty="0"/>
          </a:p>
          <a:p>
            <a:r>
              <a:rPr lang="en-US" dirty="0"/>
              <a:t>I read a lot about “The 10x Developer” on sites like </a:t>
            </a:r>
            <a:r>
              <a:rPr lang="en-US" dirty="0" err="1"/>
              <a:t>HackerNews</a:t>
            </a:r>
            <a:r>
              <a:rPr lang="en-US" dirty="0"/>
              <a:t> in 2015. Again, I’ll be frank: it smelled of Silicon Valley nonsense to me then and still does now.</a:t>
            </a:r>
          </a:p>
          <a:p>
            <a:endParaRPr lang="en-US" dirty="0"/>
          </a:p>
          <a:p>
            <a:r>
              <a:rPr lang="en-US" dirty="0"/>
              <a:t>BUT! Task delegation = acceleration.</a:t>
            </a:r>
          </a:p>
          <a:p>
            <a:endParaRPr lang="en-US" dirty="0"/>
          </a:p>
          <a:p>
            <a:r>
              <a:rPr lang="en-US" dirty="0"/>
              <a:t>Tab back to Star Wars Galactic Battlegrounds: workers in the corner mine minerals, troops rallied to the front, you do the heavy strategic lifting.</a:t>
            </a:r>
          </a:p>
          <a:p>
            <a:endParaRPr lang="en-US" dirty="0"/>
          </a:p>
          <a:p>
            <a:r>
              <a:rPr lang="en-US" dirty="0"/>
              <a:t>I’ve found that the local factory has objectively increased my output, but the actual multiplier has varied based on the work, anywhere between 1.5x and 2x.</a:t>
            </a:r>
          </a:p>
          <a:p>
            <a:endParaRPr lang="en-US" dirty="0"/>
          </a:p>
          <a:p>
            <a:r>
              <a:rPr lang="en-US" dirty="0"/>
              <a:t>Stockpile maintenance tasks or a refactor, and the return is higher. Pushing some dredge work that’s part of a bigger task might lower the return but still be a 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30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Agency.</a:t>
            </a:r>
          </a:p>
          <a:p>
            <a:endParaRPr lang="en-US" dirty="0"/>
          </a:p>
          <a:p>
            <a:r>
              <a:rPr lang="en-US" dirty="0"/>
              <a:t>We worry about loss of control &amp; knowledge with AI. The software factory keeps us in the loop.</a:t>
            </a:r>
          </a:p>
          <a:p>
            <a:endParaRPr lang="en-US" dirty="0"/>
          </a:p>
          <a:p>
            <a:r>
              <a:rPr lang="en-US" dirty="0"/>
              <a:t>Premeditated planning &amp; design enters your day to day instead of it just being a meeting you attend sometimes. Build your architecture skills!</a:t>
            </a:r>
          </a:p>
          <a:p>
            <a:endParaRPr lang="en-US" dirty="0"/>
          </a:p>
          <a:p>
            <a:r>
              <a:rPr lang="en-US" dirty="0"/>
              <a:t>You never stop writing code yourself. The goal is to delegate. Pick your battles!</a:t>
            </a:r>
          </a:p>
          <a:p>
            <a:endParaRPr lang="en-US" dirty="0"/>
          </a:p>
          <a:p>
            <a:r>
              <a:rPr lang="en-US" dirty="0"/>
              <a:t>AI doesn’t have taste or consistency in decision-making; rules files are what we use to keep them like us.</a:t>
            </a:r>
          </a:p>
          <a:p>
            <a:endParaRPr lang="en-US" dirty="0"/>
          </a:p>
          <a:p>
            <a:r>
              <a:rPr lang="en-US" dirty="0"/>
              <a:t>Stop gambling, start knowing. Pic related…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87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couple of extra things to mention before I wind up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65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factory is another tool for your toolbox.</a:t>
            </a:r>
          </a:p>
          <a:p>
            <a:endParaRPr lang="en-US" dirty="0"/>
          </a:p>
          <a:p>
            <a:r>
              <a:rPr lang="en-US" dirty="0"/>
              <a:t>As </a:t>
            </a:r>
            <a:r>
              <a:rPr lang="en-US" dirty="0" err="1"/>
              <a:t>devs</a:t>
            </a:r>
            <a:r>
              <a:rPr lang="en-US" dirty="0"/>
              <a:t>, we select the right tool for the job. </a:t>
            </a:r>
          </a:p>
          <a:p>
            <a:endParaRPr lang="en-US" dirty="0"/>
          </a:p>
          <a:p>
            <a:r>
              <a:rPr lang="en-US" dirty="0"/>
              <a:t>Not meant to replace: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Normal prompting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Skills</a:t>
            </a:r>
          </a:p>
          <a:p>
            <a:pPr marL="171450" indent="-171450">
              <a:buFontTx/>
              <a:buChar char="-"/>
            </a:pPr>
            <a:r>
              <a:rPr lang="en-US" dirty="0"/>
              <a:t>Subagents</a:t>
            </a:r>
          </a:p>
          <a:p>
            <a:pPr marL="171450" indent="-171450">
              <a:buFontTx/>
              <a:buChar char="-"/>
            </a:pPr>
            <a:r>
              <a:rPr lang="en-US" dirty="0"/>
              <a:t>Ralph loops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Good </a:t>
            </a:r>
            <a:r>
              <a:rPr lang="en-US" dirty="0" err="1"/>
              <a:t>ol</a:t>
            </a:r>
            <a:r>
              <a:rPr lang="en-US" dirty="0"/>
              <a:t>’ hands-on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794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</a:t>
            </a:r>
            <a:r>
              <a:rPr lang="en-US" dirty="0" err="1"/>
              <a:t>Analyists</a:t>
            </a:r>
            <a:r>
              <a:rPr lang="en-US" dirty="0"/>
              <a:t> earn their paycheck: translating our technical thoughts and words into tasks and requirements that everyone agrees on is not easy</a:t>
            </a:r>
          </a:p>
          <a:p>
            <a:endParaRPr lang="en-US" dirty="0"/>
          </a:p>
          <a:p>
            <a:r>
              <a:rPr lang="en-US" dirty="0"/>
              <a:t>Doing this with a LLM is thankfully easier since the audience is much smaller</a:t>
            </a:r>
          </a:p>
          <a:p>
            <a:endParaRPr lang="en-US" dirty="0"/>
          </a:p>
          <a:p>
            <a:r>
              <a:rPr lang="en-US" dirty="0"/>
              <a:t>“Clear writing is the result of a lot of tinkering” – you will have to learn to write concisely, and you won’t convey your thoughts as accurately as you’d like as you pen your tasks.</a:t>
            </a:r>
          </a:p>
          <a:p>
            <a:endParaRPr lang="en-US" dirty="0"/>
          </a:p>
          <a:p>
            <a:r>
              <a:rPr lang="en-US" dirty="0"/>
              <a:t>I’m a big proponent of Bill Zinsser’s “On Writing Well” for nonfiction writing, which includes everyday writing.</a:t>
            </a:r>
          </a:p>
          <a:p>
            <a:endParaRPr lang="en-US" dirty="0"/>
          </a:p>
          <a:p>
            <a:r>
              <a:rPr lang="en-US" dirty="0"/>
              <a:t>Sometimes you won’t have the time to pump out some tasks on a given day, and that’s ok. It’s just a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12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2C634-4DE5-E73C-5E11-6CAE4CCA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EEB66-FA33-7006-F244-3F43655A1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95AE0-DDDA-75A3-E4B9-D84956CE1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isn’t a perfect system, and there are choices you can make with your own version of the local software factory.</a:t>
            </a:r>
          </a:p>
          <a:p>
            <a:endParaRPr lang="en-US" dirty="0"/>
          </a:p>
          <a:p>
            <a:r>
              <a:rPr lang="en-US" dirty="0"/>
              <a:t>Reviewing implementation plans is a bottleneck. You’re switching context and you’re not always paying attention.</a:t>
            </a:r>
          </a:p>
          <a:p>
            <a:endParaRPr lang="en-US" dirty="0"/>
          </a:p>
          <a:p>
            <a:r>
              <a:rPr lang="en-US" dirty="0"/>
              <a:t>I personally keep the terminal on a second monitor, and you can tweak your factory to be more YOLO, skipping review.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 the factory, you’re moving time usage around, not completely eliminating it. Less hands-on tweaking about syntactic sugar, folders, etc., more planning.</a:t>
            </a:r>
          </a:p>
          <a:p>
            <a:endParaRPr lang="en-US" dirty="0"/>
          </a:p>
          <a:p>
            <a:r>
              <a:rPr lang="en-US" dirty="0"/>
              <a:t>My take is that if it’s getting things done in parallel without you, it’s already proving its worth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0D029-613C-3C0B-27D8-1035871EA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9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465C-F81A-4617-11F1-A6427AE1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DEEDC-E977-5790-91C2-37A3A53C0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7B329-C45A-260D-B9DE-2B4AA8178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lasts forever</a:t>
            </a:r>
          </a:p>
          <a:p>
            <a:endParaRPr lang="en-US" dirty="0"/>
          </a:p>
          <a:p>
            <a:r>
              <a:rPr lang="en-US" dirty="0"/>
              <a:t>All of this is a work in progress as we all stumble through this new landscape, and even this idea could go out the window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Tools with corporate backing like Docker Sandbox will mature, may fit your needs</a:t>
            </a:r>
          </a:p>
          <a:p>
            <a:pPr marL="171450" indent="-171450">
              <a:buFontTx/>
              <a:buChar char="-"/>
            </a:pPr>
            <a:r>
              <a:rPr lang="en-US" dirty="0"/>
              <a:t>Matt Pocock was working on a similar tool that people could bring their models too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Models and harnesses are getting better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The whole AI landscape as we know it could completely change at any point if the newest facet is that good. What’s the world </a:t>
            </a:r>
            <a:r>
              <a:rPr lang="en-US" dirty="0" err="1"/>
              <a:t>gonna</a:t>
            </a:r>
            <a:r>
              <a:rPr lang="en-US" dirty="0"/>
              <a:t> look like with AI-first operating systems?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BEF3C-4A5D-F2CA-E038-BF53729B4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440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15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CDCB3F-141E-19D7-BCD2-9A1ACB34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/>
          <a:p>
            <a:r>
              <a:rPr lang="en-US" dirty="0"/>
              <a:t>Thanks to our sponsors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82D60FF-46FE-9D3E-4A6A-AA351BD18BB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3592505" y="690511"/>
            <a:ext cx="7281881" cy="3021980"/>
          </a:xfrm>
          <a:prstGeom prst="rect">
            <a:avLst/>
          </a:pr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2FB7836-451D-B146-AC9F-6A3445B3ED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8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Your Droids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9670D0A-5A04-A439-2A1A-751ED1418A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0584" b="2058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E01D5-2AC7-13B6-9572-E86D30FDE3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Creating your own software factory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About me</a:t>
            </a:r>
            <a:endParaRPr lang="en-Z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A3D4103-A3C2-A6CC-FF4A-CAB89B7EA62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1180" r="11180"/>
          <a:stretch/>
        </p:blipFill>
        <p:spPr>
          <a:xfrm>
            <a:off x="1503363" y="2061969"/>
            <a:ext cx="3709799" cy="388163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01695" y="1143003"/>
            <a:ext cx="5352186" cy="480059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Software Engineer @ Clear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Fullstack</a:t>
            </a:r>
            <a:r>
              <a:rPr lang="en-US" dirty="0"/>
              <a:t>…? Tooling, QA/SDET, Desktop, Web. I get around.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C#, Python, Java, JS/TS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Photography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C53B2A-1A94-7680-A723-14AC50468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08" r="18815" b="31203"/>
          <a:stretch>
            <a:fillRect/>
          </a:stretch>
        </p:blipFill>
        <p:spPr>
          <a:xfrm>
            <a:off x="7474317" y="4299510"/>
            <a:ext cx="1442400" cy="1516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E91F59-CB81-929B-E8C8-BF1A9E98F9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178" t="28662" r="26601" b="28519"/>
          <a:stretch>
            <a:fillRect/>
          </a:stretch>
        </p:blipFill>
        <p:spPr>
          <a:xfrm>
            <a:off x="8635346" y="3880875"/>
            <a:ext cx="1421394" cy="129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D2ED33-FB9B-3D76-6C6E-62F21A7F7E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365" t="31601" r="35318" b="13333"/>
          <a:stretch>
            <a:fillRect/>
          </a:stretch>
        </p:blipFill>
        <p:spPr>
          <a:xfrm>
            <a:off x="8311640" y="5009713"/>
            <a:ext cx="1628977" cy="126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The Big AI Bang</a:t>
            </a:r>
          </a:p>
        </p:txBody>
      </p:sp>
      <p:pic>
        <p:nvPicPr>
          <p:cNvPr id="4" name="Picture Placeholder 17">
            <a:extLst>
              <a:ext uri="{FF2B5EF4-FFF2-40B4-BE49-F238E27FC236}">
                <a16:creationId xmlns:a16="http://schemas.microsoft.com/office/drawing/2014/main" id="{5E6D83BB-8C90-A74A-7CB5-59884B99448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 t="12177" r="2" b="3688"/>
          <a:stretch>
            <a:fillRect/>
          </a:stretch>
        </p:blipFill>
        <p:spPr>
          <a:xfrm>
            <a:off x="1450153" y="2108722"/>
            <a:ext cx="8552264" cy="4119463"/>
          </a:xfr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FD3F6358-F1C3-823E-3299-A949D55790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6370BF-68B4-9881-9060-85BA1C3872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359" b="28503"/>
          <a:stretch>
            <a:fillRect/>
          </a:stretch>
        </p:blipFill>
        <p:spPr>
          <a:xfrm>
            <a:off x="6992471" y="2259329"/>
            <a:ext cx="3009946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ZA" dirty="0"/>
              <a:t>How do we command our LLMs?</a:t>
            </a:r>
          </a:p>
        </p:txBody>
      </p:sp>
      <p:pic>
        <p:nvPicPr>
          <p:cNvPr id="5" name="Picture Placeholder 84">
            <a:extLst>
              <a:ext uri="{FF2B5EF4-FFF2-40B4-BE49-F238E27FC236}">
                <a16:creationId xmlns:a16="http://schemas.microsoft.com/office/drawing/2014/main" id="{E71238CA-461F-1B03-D7E1-786C002AB7D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2842336" y="1931437"/>
            <a:ext cx="6564478" cy="3887925"/>
          </a:xfr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2A1F15F-20CF-A3FE-49D1-ECCDB912653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9083675" y="2066925"/>
            <a:ext cx="3108325" cy="386715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49CB5-A8FE-D25D-7C95-F54DC27C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ED2009-C081-0025-5998-BE4A771A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Software Factory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DAB30E-4782-A174-F816-6112BA624F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37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4A684-DE26-EDE9-3DCA-1A68E39D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0C9FC2-E3FF-FD00-B81E-E554FC68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endParaRPr lang="en-ZA" dirty="0"/>
          </a:p>
        </p:txBody>
      </p:sp>
      <p:pic>
        <p:nvPicPr>
          <p:cNvPr id="5" name="Picture Placeholder 84">
            <a:extLst>
              <a:ext uri="{FF2B5EF4-FFF2-40B4-BE49-F238E27FC236}">
                <a16:creationId xmlns:a16="http://schemas.microsoft.com/office/drawing/2014/main" id="{29B799C8-7D95-77F4-CABC-150BC48566F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 t="650" b="62053"/>
          <a:stretch>
            <a:fillRect/>
          </a:stretch>
        </p:blipFill>
        <p:spPr>
          <a:xfrm>
            <a:off x="1545012" y="1467412"/>
            <a:ext cx="9150675" cy="3887925"/>
          </a:xfr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E34577F-6BB1-CF57-9058-3D56E6A55D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E32168-5DD6-700A-AEAC-3E5CC9BF97F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9083675" y="2066925"/>
            <a:ext cx="3108325" cy="386715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8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8075B-55AA-E407-EC14-C6806314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046A83-04C1-75E1-1C61-1057FFEC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endParaRPr lang="en-ZA" dirty="0"/>
          </a:p>
        </p:txBody>
      </p:sp>
      <p:pic>
        <p:nvPicPr>
          <p:cNvPr id="5" name="Picture Placeholder 84">
            <a:extLst>
              <a:ext uri="{FF2B5EF4-FFF2-40B4-BE49-F238E27FC236}">
                <a16:creationId xmlns:a16="http://schemas.microsoft.com/office/drawing/2014/main" id="{32007F7F-8C85-8A65-2B99-4E7136A5321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/>
          <a:stretch/>
        </p:blipFill>
        <p:spPr>
          <a:xfrm>
            <a:off x="1545012" y="1467412"/>
            <a:ext cx="9150675" cy="3887925"/>
          </a:xfr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C219E26-96D2-AF94-3EBB-FC1551AA341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DF9A60-91AD-899D-DE9A-5A569A476D9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9083675" y="2066925"/>
            <a:ext cx="3108325" cy="386715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19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FC80-022C-6022-4133-8D6F1145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E50628-E9E9-D8D2-CF58-456E8FCB641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C4344-6B1B-E56A-4A84-F5669E6E13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1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sz="3100"/>
              <a:t>Great idea!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But…</a:t>
            </a:r>
            <a:endParaRPr lang="en-ZA" sz="31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AFE998F-BC25-5E55-218F-BEA3B6B18E0E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107739389"/>
              </p:ext>
            </p:extLst>
          </p:nvPr>
        </p:nvGraphicFramePr>
        <p:xfrm>
          <a:off x="1487488" y="2057400"/>
          <a:ext cx="9790112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76C493-BF79-1C82-DBD9-56A050DC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can’t we do this?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A57A6D1-1C41-82C1-62A6-1BFB70E4643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 l="14859" r="49531" b="45156"/>
          <a:stretch>
            <a:fillRect/>
          </a:stretch>
        </p:blipFill>
        <p:spPr>
          <a:xfrm>
            <a:off x="1468814" y="1976596"/>
            <a:ext cx="4321566" cy="374388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0AE5BC-9250-3CAC-625E-944B572DC38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rcRect l="18403" r="41997" b="40924"/>
          <a:stretch>
            <a:fillRect/>
          </a:stretch>
        </p:blipFill>
        <p:spPr>
          <a:xfrm>
            <a:off x="6759243" y="1979052"/>
            <a:ext cx="4458595" cy="37414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3152E-C5E6-7924-37BC-C1AF00E5E5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5F85B4A-A4A5-F01F-3628-63FC66AEA046}"/>
              </a:ext>
            </a:extLst>
          </p:cNvPr>
          <p:cNvSpPr/>
          <p:nvPr/>
        </p:nvSpPr>
        <p:spPr>
          <a:xfrm>
            <a:off x="5925312" y="3743106"/>
            <a:ext cx="694944" cy="4773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32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We can!</a:t>
            </a:r>
            <a:endParaRPr lang="en-Z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18E073-411F-C5DF-EA17-CF3EAE93007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468814" y="2381938"/>
            <a:ext cx="4627186" cy="3470389"/>
          </a:xfrm>
          <a:prstGeom prst="rect">
            <a:avLst/>
          </a:prstGeo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40DBB8B-62C0-9D17-F00B-796FE0897C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8185" y="2057401"/>
            <a:ext cx="4609399" cy="4119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Harness SDK + supported language</a:t>
            </a:r>
          </a:p>
          <a:p>
            <a:r>
              <a:rPr lang="en-US" dirty="0"/>
              <a:t>The secret sauce: Backlog.md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46383-F580-951F-2D70-222BAF05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51674">
            <a:off x="3774845" y="2620277"/>
            <a:ext cx="1494814" cy="14948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42675-D48B-F92B-3179-1C9C4BDA0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00615">
            <a:off x="4698661" y="2686462"/>
            <a:ext cx="1559872" cy="1559872"/>
          </a:xfrm>
          <a:prstGeom prst="rect">
            <a:avLst/>
          </a:prstGeom>
        </p:spPr>
      </p:pic>
      <p:pic>
        <p:nvPicPr>
          <p:cNvPr id="2" name="Graphic 1" descr="C# - JetBrains Guide">
            <a:extLst>
              <a:ext uri="{FF2B5EF4-FFF2-40B4-BE49-F238E27FC236}">
                <a16:creationId xmlns:a16="http://schemas.microsoft.com/office/drawing/2014/main" id="{86603E97-6486-8D13-5379-25B381FAD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794" y="2798186"/>
            <a:ext cx="1971525" cy="19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10E631-05B3-CC0D-A5C5-4085A4F0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processed once longed for, made manifest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0FDE10-55A6-64B8-C79C-79EBA8B85B7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468814" y="2277336"/>
            <a:ext cx="4122288" cy="3899625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19D8D52-971F-69C3-24D0-5FE2F1F1D8C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rcRect l="44821" t="14224" r="20415" b="41290"/>
          <a:stretch>
            <a:fillRect/>
          </a:stretch>
        </p:blipFill>
        <p:spPr>
          <a:xfrm>
            <a:off x="6600900" y="2386679"/>
            <a:ext cx="4576863" cy="367040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2F143-A6BB-F639-4B71-3FF5F7DF56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BD7277CC-D045-4CD7-E502-AD727AD5B375}"/>
              </a:ext>
            </a:extLst>
          </p:cNvPr>
          <p:cNvSpPr/>
          <p:nvPr/>
        </p:nvSpPr>
        <p:spPr>
          <a:xfrm>
            <a:off x="5699294" y="3949654"/>
            <a:ext cx="793413" cy="544452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12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C9F3C-75C4-A7F9-56A5-373FA0CD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E374-D387-B807-CC98-0B59B7A4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311061"/>
            <a:ext cx="10115939" cy="2681549"/>
          </a:xfrm>
        </p:spPr>
        <p:txBody>
          <a:bodyPr>
            <a:normAutofit/>
          </a:bodyPr>
          <a:lstStyle/>
          <a:p>
            <a:r>
              <a:rPr lang="en-ZA" sz="7200" dirty="0"/>
              <a:t>Demo time!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1ADE4-0D8C-5E3C-C5B9-EE9071EEB7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4112775"/>
            <a:ext cx="10115939" cy="17627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04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311061"/>
            <a:ext cx="10115939" cy="2681549"/>
          </a:xfrm>
        </p:spPr>
        <p:txBody>
          <a:bodyPr>
            <a:normAutofit/>
          </a:bodyPr>
          <a:lstStyle/>
          <a:p>
            <a:r>
              <a:rPr lang="en-US" sz="7200" dirty="0"/>
              <a:t>Why?</a:t>
            </a:r>
            <a:endParaRPr lang="en-ZA" sz="7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06B8-D15C-3916-2C66-49DEC593A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4112775"/>
            <a:ext cx="10115939" cy="17627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</a:t>
            </a:r>
            <a:endParaRPr lang="en-Z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CE9E18-F4C2-3B3A-348B-BE5512664CA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True task delegation</a:t>
            </a:r>
          </a:p>
          <a:p>
            <a:pPr lvl="1"/>
            <a:r>
              <a:rPr lang="en-US" dirty="0"/>
              <a:t>Bugs and testing issues no longer bring you to a complete stop</a:t>
            </a:r>
          </a:p>
          <a:p>
            <a:pPr lvl="1"/>
            <a:r>
              <a:rPr lang="en-US" dirty="0"/>
              <a:t>“Easy” fixes and maintenance and “complex” experimental refactors can now be passed to your LLM </a:t>
            </a:r>
          </a:p>
          <a:p>
            <a:endParaRPr lang="en-US" dirty="0"/>
          </a:p>
          <a:p>
            <a:r>
              <a:rPr lang="en-US" dirty="0"/>
              <a:t>Faster prototyping</a:t>
            </a:r>
          </a:p>
          <a:p>
            <a:pPr lvl="1"/>
            <a:r>
              <a:rPr lang="en-US" dirty="0"/>
              <a:t>Easier for you to determine if an idea is good or not</a:t>
            </a:r>
          </a:p>
          <a:p>
            <a:pPr lvl="1"/>
            <a:r>
              <a:rPr lang="en-US" dirty="0"/>
              <a:t>Prototyping in parallel is now real</a:t>
            </a:r>
          </a:p>
          <a:p>
            <a:pPr lvl="1"/>
            <a:endParaRPr lang="en-US" dirty="0"/>
          </a:p>
          <a:p>
            <a:r>
              <a:rPr lang="en-US" dirty="0"/>
              <a:t>Flexibility in tooling</a:t>
            </a:r>
          </a:p>
          <a:p>
            <a:pPr lvl="1"/>
            <a:r>
              <a:rPr lang="en-US" dirty="0"/>
              <a:t>Take this workflow with you between operating systems</a:t>
            </a:r>
          </a:p>
          <a:p>
            <a:pPr lvl="1"/>
            <a:r>
              <a:rPr lang="en-US" dirty="0"/>
              <a:t>Change it to suit your needs: stick with a certain model, use certain skills, etc.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Productivity</a:t>
            </a:r>
            <a:br>
              <a:rPr lang="en-US" dirty="0"/>
            </a:br>
            <a:r>
              <a:rPr lang="en-US" sz="2000" dirty="0"/>
              <a:t>Live the 10x </a:t>
            </a:r>
            <a:r>
              <a:rPr lang="en-US" sz="2000" strike="sngStrike" dirty="0"/>
              <a:t>meme</a:t>
            </a:r>
            <a:r>
              <a:rPr lang="en-US" sz="2000" dirty="0"/>
              <a:t> dream, </a:t>
            </a:r>
            <a:r>
              <a:rPr lang="en-US" sz="2000" dirty="0" err="1"/>
              <a:t>sorta</a:t>
            </a:r>
            <a:endParaRPr lang="en-ZA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E1748-5A63-CCAD-65B2-FB5DB78846F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2057400"/>
            <a:ext cx="3722912" cy="411946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10x programmer is still silicon valley nonsense, but it’s now very realistic for your output to genuinely increase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Task delegation = acceleration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 real boost, but the multiplier varies based on the work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5F94EC-5766-CF6D-3BEB-8BB70EE8297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l="28983" t="25272" r="18256" b="25279"/>
          <a:stretch>
            <a:fillRect/>
          </a:stretch>
        </p:blipFill>
        <p:spPr>
          <a:xfrm>
            <a:off x="5191726" y="2057400"/>
            <a:ext cx="6078858" cy="411471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A06A50-0C10-4683-9240-30A5C86A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Agency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E8EC952-AA8B-87E4-AB44-084E9AEBE55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992226" y="1745359"/>
            <a:ext cx="3765858" cy="44315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3E30D-7F5E-4F93-DF18-DD6DDCAEC64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Planning &amp; design enters your day-to-day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never stop writing code yourself: delegate, don’t offload. Pick your battles!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doesn’t have “code taste” or consistency in decision making: we make rules and AGENTS.md files to reflect our skill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Stop gambling, start knowing</a:t>
            </a:r>
          </a:p>
        </p:txBody>
      </p:sp>
      <p:sp>
        <p:nvSpPr>
          <p:cNvPr id="10" name="&quot;Not Allowed&quot; Symbol 9">
            <a:extLst>
              <a:ext uri="{FF2B5EF4-FFF2-40B4-BE49-F238E27FC236}">
                <a16:creationId xmlns:a16="http://schemas.microsoft.com/office/drawing/2014/main" id="{AD90AD39-8B7A-1FC0-3BBC-A9A7D1D7D832}"/>
              </a:ext>
            </a:extLst>
          </p:cNvPr>
          <p:cNvSpPr/>
          <p:nvPr/>
        </p:nvSpPr>
        <p:spPr>
          <a:xfrm>
            <a:off x="2156150" y="2324711"/>
            <a:ext cx="3443606" cy="3456413"/>
          </a:xfrm>
          <a:prstGeom prst="noSmoking">
            <a:avLst/>
          </a:prstGeom>
          <a:solidFill>
            <a:srgbClr val="C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311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ECA13-D1B1-935A-66C8-236A943C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C10E4E8-3527-5CBC-8110-B7A440E2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Parting Notes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EEB80D-42DD-2137-60C1-C8B3D1ECC1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49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629975-5F0E-4730-924B-B446BB36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tool for work, not a replacement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F3933-2F52-45E2-5287-AB75FF8634D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local software factory is another tool</a:t>
            </a:r>
          </a:p>
          <a:p>
            <a:endParaRPr lang="en-US" dirty="0"/>
          </a:p>
          <a:p>
            <a:r>
              <a:rPr lang="en-US" dirty="0"/>
              <a:t>As a developer, you select the right tool for the job</a:t>
            </a:r>
          </a:p>
          <a:p>
            <a:pPr lvl="1"/>
            <a:r>
              <a:rPr lang="en-US" dirty="0"/>
              <a:t>Sometimes a prompt to use a skill will be sufficient</a:t>
            </a:r>
          </a:p>
          <a:p>
            <a:pPr lvl="1"/>
            <a:r>
              <a:rPr lang="en-US" dirty="0"/>
              <a:t>Sometimes you’ll want to let the AI dive deep with a Ralph Loop</a:t>
            </a:r>
          </a:p>
          <a:p>
            <a:pPr lvl="1"/>
            <a:r>
              <a:rPr lang="en-US" dirty="0"/>
              <a:t>Sometimes you </a:t>
            </a:r>
            <a:r>
              <a:rPr lang="en-US" dirty="0" err="1"/>
              <a:t>gotta</a:t>
            </a:r>
            <a:r>
              <a:rPr lang="en-US" dirty="0"/>
              <a:t> get your hands dirty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CB8AC-6CF0-6C8C-3B30-94927DAB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47773C-8B6A-77C2-680C-69188A2F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tasks is hard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DC9CA-8029-0F01-662B-E51122F8D16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BAs earn their paycheck: translating group thoughts to tasks isn’t easy</a:t>
            </a:r>
          </a:p>
          <a:p>
            <a:endParaRPr lang="en-US" dirty="0"/>
          </a:p>
          <a:p>
            <a:r>
              <a:rPr lang="en-US" dirty="0"/>
              <a:t>“Clear writing is the result of a lot of tinkering”- William Zinsser</a:t>
            </a:r>
          </a:p>
          <a:p>
            <a:pPr lvl="1"/>
            <a:r>
              <a:rPr lang="en-US" dirty="0"/>
              <a:t>Suggested reading: </a:t>
            </a:r>
            <a:r>
              <a:rPr lang="en-US" b="1" dirty="0"/>
              <a:t>On Writing Well, Seventh Edition</a:t>
            </a:r>
          </a:p>
          <a:p>
            <a:pPr lvl="1"/>
            <a:endParaRPr lang="en-US" b="1" i="1" dirty="0"/>
          </a:p>
          <a:p>
            <a:r>
              <a:rPr lang="en-US" dirty="0"/>
              <a:t>Sometimes you don’t have the time, and that’s ok</a:t>
            </a:r>
          </a:p>
        </p:txBody>
      </p:sp>
    </p:spTree>
    <p:extLst>
      <p:ext uri="{BB962C8B-B14F-4D97-AF65-F5344CB8AC3E}">
        <p14:creationId xmlns:p14="http://schemas.microsoft.com/office/powerpoint/2010/main" val="825013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CD2C2-FA90-3CCE-6CBD-811EDF81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67513-BFAF-993B-9D69-B57BE334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 and limits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B14421-F0E2-39B2-7E1C-4F1F301BDFB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Reviewing implementation plans means you’re switching context and not always paying attention</a:t>
            </a:r>
          </a:p>
          <a:p>
            <a:pPr lvl="1"/>
            <a:r>
              <a:rPr lang="en-US" dirty="0"/>
              <a:t>I keep the terminal from the earlier slides on a second monitor</a:t>
            </a:r>
          </a:p>
          <a:p>
            <a:pPr lvl="1"/>
            <a:r>
              <a:rPr lang="en-US" dirty="0"/>
              <a:t>You can tweak your factory to be more YOLO and skip review</a:t>
            </a:r>
          </a:p>
          <a:p>
            <a:pPr lvl="1"/>
            <a:r>
              <a:rPr lang="en-US" dirty="0"/>
              <a:t>My take: if something’s done in parallel, the factory is already proving its worth</a:t>
            </a:r>
          </a:p>
          <a:p>
            <a:endParaRPr lang="en-US" dirty="0"/>
          </a:p>
          <a:p>
            <a:r>
              <a:rPr lang="en-US" dirty="0"/>
              <a:t>You’re moving the time spent doing hands-on development where you determine spacing, syntactic sugar, etc., to planning</a:t>
            </a:r>
          </a:p>
        </p:txBody>
      </p:sp>
    </p:spTree>
    <p:extLst>
      <p:ext uri="{BB962C8B-B14F-4D97-AF65-F5344CB8AC3E}">
        <p14:creationId xmlns:p14="http://schemas.microsoft.com/office/powerpoint/2010/main" val="3929624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29922-D30E-9CDF-2D43-7B2469E3B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4452B7-D4AD-F220-A1CB-7783477C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Nothing lasts forever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F10855-EC67-88E0-DEC4-0E34775AD52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This is all a work in progress, and it could go out the window</a:t>
            </a:r>
          </a:p>
          <a:p>
            <a:pPr lvl="1"/>
            <a:r>
              <a:rPr lang="en-US" dirty="0"/>
              <a:t>Tools like Docker Sandboxes will mature</a:t>
            </a:r>
          </a:p>
          <a:p>
            <a:pPr lvl="1"/>
            <a:r>
              <a:rPr lang="en-US" dirty="0"/>
              <a:t>Matt Pocock was working on a similar project</a:t>
            </a:r>
          </a:p>
          <a:p>
            <a:endParaRPr lang="en-US" dirty="0"/>
          </a:p>
          <a:p>
            <a:r>
              <a:rPr lang="en-US" dirty="0"/>
              <a:t>The landscape is constantly changing, models and harnesses getting better</a:t>
            </a:r>
          </a:p>
          <a:p>
            <a:endParaRPr lang="en-US" dirty="0"/>
          </a:p>
          <a:p>
            <a:r>
              <a:rPr lang="en-US" dirty="0"/>
              <a:t>The whole game can change at any point: AI-first operating systems?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048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C3E0FD-1784-A8EC-E44E-F14D6428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FC72242-D4F4-1C2B-E4E9-5B5AFFAF5C0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902090" y="2108200"/>
            <a:ext cx="3648046" cy="41195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33CCE-414E-26A8-ACA0-75EDFFF929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246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6948" y="-369807"/>
            <a:ext cx="5669709" cy="5253089"/>
          </a:xfrm>
        </p:spPr>
        <p:txBody>
          <a:bodyPr/>
          <a:lstStyle/>
          <a:p>
            <a:r>
              <a:rPr lang="en-US" dirty="0"/>
              <a:t>Jonathan Markman</a:t>
            </a:r>
          </a:p>
          <a:p>
            <a:endParaRPr lang="en-US" dirty="0"/>
          </a:p>
          <a:p>
            <a:r>
              <a:rPr lang="en-US" dirty="0"/>
              <a:t>https://github.com/jmarkman</a:t>
            </a:r>
          </a:p>
          <a:p>
            <a:r>
              <a:rPr lang="en-US" dirty="0"/>
              <a:t>https://www.linkedin.com/in/jmarkman446</a:t>
            </a:r>
          </a:p>
          <a:p>
            <a:r>
              <a:rPr lang="en-US" dirty="0"/>
              <a:t>jmarkman.github.io/blog/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E7D69-BA9C-A6C9-6E57-EB5548693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20" t="25921" r="32740" b="40159"/>
          <a:stretch>
            <a:fillRect/>
          </a:stretch>
        </p:blipFill>
        <p:spPr>
          <a:xfrm>
            <a:off x="6392128" y="3617367"/>
            <a:ext cx="4564685" cy="232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6848</TotalTime>
  <Words>2168</Words>
  <Application>Microsoft Office PowerPoint</Application>
  <PresentationFormat>Widescreen</PresentationFormat>
  <Paragraphs>272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Tisa Offc Serif Pro</vt:lpstr>
      <vt:lpstr>Univers Light</vt:lpstr>
      <vt:lpstr>Custom</vt:lpstr>
      <vt:lpstr>Thanks to our sponsors</vt:lpstr>
      <vt:lpstr>Command Your Droids</vt:lpstr>
      <vt:lpstr>About me</vt:lpstr>
      <vt:lpstr>The Big AI Bang</vt:lpstr>
      <vt:lpstr>How do we command our LLMs?</vt:lpstr>
      <vt:lpstr>The Software Factory</vt:lpstr>
      <vt:lpstr>PowerPoint Presentation</vt:lpstr>
      <vt:lpstr>PowerPoint Presentation</vt:lpstr>
      <vt:lpstr>PowerPoint Presentation</vt:lpstr>
      <vt:lpstr>Great idea!   But…</vt:lpstr>
      <vt:lpstr>Why can’t we do this?</vt:lpstr>
      <vt:lpstr>We can!</vt:lpstr>
      <vt:lpstr>A processed once longed for, made manifest</vt:lpstr>
      <vt:lpstr>Demo time!</vt:lpstr>
      <vt:lpstr>Why?</vt:lpstr>
      <vt:lpstr>Flexibility</vt:lpstr>
      <vt:lpstr>Productivity Live the 10x meme dream, sorta</vt:lpstr>
      <vt:lpstr>Agency</vt:lpstr>
      <vt:lpstr>Parting Notes</vt:lpstr>
      <vt:lpstr>New tool for work, not a replacement</vt:lpstr>
      <vt:lpstr>Writing tasks is hard</vt:lpstr>
      <vt:lpstr>Tradeoffs and limits</vt:lpstr>
      <vt:lpstr>Nothing lasts forever</vt:lpstr>
      <vt:lpstr>Questions?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Markman</dc:creator>
  <cp:lastModifiedBy>Jonathan Markman</cp:lastModifiedBy>
  <cp:revision>112</cp:revision>
  <dcterms:created xsi:type="dcterms:W3CDTF">2026-09-08T16:01:19Z</dcterms:created>
  <dcterms:modified xsi:type="dcterms:W3CDTF">2026-10-15T02:28:33Z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